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2"/>
  </p:notesMasterIdLst>
  <p:sldIdLst>
    <p:sldId id="256" r:id="rId2"/>
    <p:sldId id="257" r:id="rId3"/>
    <p:sldId id="258" r:id="rId4"/>
    <p:sldId id="259" r:id="rId5"/>
    <p:sldId id="266" r:id="rId6"/>
    <p:sldId id="267" r:id="rId7"/>
    <p:sldId id="271" r:id="rId8"/>
    <p:sldId id="260" r:id="rId9"/>
    <p:sldId id="272" r:id="rId10"/>
    <p:sldId id="273" r:id="rId11"/>
    <p:sldId id="274" r:id="rId12"/>
    <p:sldId id="275" r:id="rId13"/>
    <p:sldId id="276" r:id="rId14"/>
    <p:sldId id="277" r:id="rId15"/>
    <p:sldId id="264" r:id="rId16"/>
    <p:sldId id="265" r:id="rId17"/>
    <p:sldId id="268" r:id="rId18"/>
    <p:sldId id="262" r:id="rId19"/>
    <p:sldId id="278" r:id="rId20"/>
    <p:sldId id="263"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15620"/>
    <p:restoredTop sz="94660"/>
  </p:normalViewPr>
  <p:slideViewPr>
    <p:cSldViewPr>
      <p:cViewPr varScale="1">
        <p:scale>
          <a:sx n="68" d="100"/>
          <a:sy n="68" d="100"/>
        </p:scale>
        <p:origin x="-1816"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4DE7C01-94EB-407E-AF00-963C04767F19}" type="datetimeFigureOut">
              <a:rPr lang="en-US" smtClean="0"/>
              <a:pPr/>
              <a:t>12/30/2022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8FB03F-6F4C-4AE3-8176-8C2115A3286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0824D338-1CF2-4138-B52F-AC679B169677}" type="datetime1">
              <a:rPr lang="en-US" smtClean="0"/>
              <a:pPr/>
              <a:t>12/30/2022</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0A98E328-1B13-4AAD-AFCF-7CFCF18726C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0604892-16C5-4EB8-A2E1-9A017FC71D53}" type="datetime1">
              <a:rPr lang="en-US" smtClean="0"/>
              <a:pPr/>
              <a:t>12/30/2022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A98E328-1B13-4AAD-AFCF-7CFCF18726C2}"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B5173096-E9B4-46A1-BE8C-ED6C38CBE5D6}" type="datetime1">
              <a:rPr lang="en-US" smtClean="0"/>
              <a:pPr/>
              <a:t>12/30/2022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A98E328-1B13-4AAD-AFCF-7CFCF18726C2}"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8F8DAECC-9186-45D3-A655-EA3D88070C18}" type="datetime1">
              <a:rPr lang="en-US" smtClean="0"/>
              <a:pPr/>
              <a:t>12/30/2022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A98E328-1B13-4AAD-AFCF-7CFCF18726C2}"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04B07C8F-BB74-445F-8AE2-BF53237EA62C}" type="datetime1">
              <a:rPr lang="en-US" smtClean="0"/>
              <a:pPr/>
              <a:t>12/30/2022</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0A98E328-1B13-4AAD-AFCF-7CFCF18726C2}"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3CE63B9A-EA48-49AA-8134-BF9BFEE19058}" type="datetime1">
              <a:rPr lang="en-US" smtClean="0"/>
              <a:pPr/>
              <a:t>12/30/2022</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0A98E328-1B13-4AAD-AFCF-7CFCF18726C2}"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33A49DCF-5B26-49FA-AC7B-41F7E60E2A94}" type="datetime1">
              <a:rPr lang="en-US" smtClean="0"/>
              <a:pPr/>
              <a:t>12/30/2022</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0A98E328-1B13-4AAD-AFCF-7CFCF18726C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4A10378E-D01C-44AC-9865-5CBBDD6E36E6}" type="datetime1">
              <a:rPr lang="en-US" smtClean="0"/>
              <a:pPr/>
              <a:t>12/30/2022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A98E328-1B13-4AAD-AFCF-7CFCF18726C2}"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E7EFD4E1-2388-490D-95D9-D2289B123E8D}" type="datetime1">
              <a:rPr lang="en-US" smtClean="0"/>
              <a:pPr/>
              <a:t>12/30/2022</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0A98E328-1B13-4AAD-AFCF-7CFCF18726C2}"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78DEDFC-D13E-4088-92B4-154CC14213A8}" type="datetime1">
              <a:rPr lang="en-US" smtClean="0"/>
              <a:pPr/>
              <a:t>12/30/2022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A98E328-1B13-4AAD-AFCF-7CFCF18726C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91FACA18-AA9D-4A7D-8E2C-4E629E72BA6A}" type="datetime1">
              <a:rPr lang="en-US" smtClean="0"/>
              <a:pPr/>
              <a:t>12/30/2022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A98E328-1B13-4AAD-AFCF-7CFCF18726C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F7FDE725-3F67-4AB5-94B3-63A19D73FB3F}" type="datetime1">
              <a:rPr lang="en-US" smtClean="0"/>
              <a:pPr/>
              <a:t>12/30/2022</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0A98E328-1B13-4AAD-AFCF-7CFCF18726C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p:cNvSpPr>
            <a:spLocks noGrp="1"/>
          </p:cNvSpPr>
          <p:nvPr>
            <p:ph type="sldNum" sz="quarter" idx="12"/>
          </p:nvPr>
        </p:nvSpPr>
        <p:spPr/>
        <p:txBody>
          <a:bodyPr/>
          <a:lstStyle/>
          <a:p>
            <a:fld id="{0A98E328-1B13-4AAD-AFCF-7CFCF18726C2}" type="slidenum">
              <a:rPr lang="en-US" smtClean="0"/>
              <a:pPr/>
              <a:t>1</a:t>
            </a:fld>
            <a:endParaRPr lang="en-US"/>
          </a:p>
        </p:txBody>
      </p:sp>
      <p:pic>
        <p:nvPicPr>
          <p:cNvPr id="7" name="Picture 6" descr="Black Simple Gradient Website Designer Twitter Post  .png"/>
          <p:cNvPicPr>
            <a:picLocks noChangeAspect="1"/>
          </p:cNvPicPr>
          <p:nvPr/>
        </p:nvPicPr>
        <p:blipFill>
          <a:blip r:embed="rId2"/>
          <a:stretch>
            <a:fillRect/>
          </a:stretch>
        </p:blipFill>
        <p:spPr>
          <a:xfrm>
            <a:off x="714348" y="571480"/>
            <a:ext cx="7643866" cy="3852967"/>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GB" sz="1600" dirty="0" smtClean="0"/>
              <a:t>Introduction</a:t>
            </a:r>
          </a:p>
          <a:p>
            <a:endParaRPr lang="en-GB" sz="1600" dirty="0" smtClean="0"/>
          </a:p>
          <a:p>
            <a:r>
              <a:rPr lang="en-GB" sz="1600" dirty="0" smtClean="0"/>
              <a:t>Overview</a:t>
            </a:r>
          </a:p>
          <a:p>
            <a:endParaRPr lang="en-GB" sz="1600" dirty="0" smtClean="0"/>
          </a:p>
          <a:p>
            <a:r>
              <a:rPr lang="en-GB" sz="1600" dirty="0" smtClean="0"/>
              <a:t>Protocol fees</a:t>
            </a:r>
          </a:p>
          <a:p>
            <a:endParaRPr lang="en-GB" sz="1600" dirty="0" smtClean="0"/>
          </a:p>
          <a:p>
            <a:r>
              <a:rPr lang="en-GB" sz="1600" dirty="0" smtClean="0"/>
              <a:t>Architecture</a:t>
            </a:r>
          </a:p>
          <a:p>
            <a:pPr>
              <a:buNone/>
            </a:pPr>
            <a:endParaRPr lang="en-GB" sz="1600" dirty="0" smtClean="0"/>
          </a:p>
          <a:p>
            <a:r>
              <a:rPr lang="en-GB" sz="1600" dirty="0" smtClean="0"/>
              <a:t>Sources</a:t>
            </a:r>
            <a:endParaRPr lang="en-US" sz="1600" dirty="0"/>
          </a:p>
        </p:txBody>
      </p:sp>
      <p:sp>
        <p:nvSpPr>
          <p:cNvPr id="4" name="Slide Number Placeholder 3"/>
          <p:cNvSpPr>
            <a:spLocks noGrp="1"/>
          </p:cNvSpPr>
          <p:nvPr>
            <p:ph type="sldNum" sz="quarter" idx="12"/>
          </p:nvPr>
        </p:nvSpPr>
        <p:spPr/>
        <p:txBody>
          <a:bodyPr/>
          <a:lstStyle/>
          <a:p>
            <a:fld id="{0A98E328-1B13-4AAD-AFCF-7CFCF18726C2}"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endParaRPr lang="en-GB" sz="1600" dirty="0" smtClean="0"/>
          </a:p>
          <a:p>
            <a:r>
              <a:rPr lang="en-GB" sz="1600" dirty="0" smtClean="0"/>
              <a:t>Nonagon Finance is a free, decentralized perpetual and derivative leverage trading protocol built on Ethereum’s L2 Optimism.</a:t>
            </a:r>
          </a:p>
          <a:p>
            <a:pPr>
              <a:buNone/>
            </a:pPr>
            <a:endParaRPr lang="en-GB" sz="1600" dirty="0" smtClean="0"/>
          </a:p>
          <a:p>
            <a:pPr>
              <a:buNone/>
            </a:pPr>
            <a:endParaRPr lang="en-GB" sz="1600" dirty="0" smtClean="0"/>
          </a:p>
          <a:p>
            <a:endParaRPr lang="en-GB" sz="1600" dirty="0" smtClean="0"/>
          </a:p>
          <a:p>
            <a:endParaRPr lang="en-US" sz="1600" dirty="0"/>
          </a:p>
        </p:txBody>
      </p:sp>
      <p:sp>
        <p:nvSpPr>
          <p:cNvPr id="3" name="Title 2"/>
          <p:cNvSpPr>
            <a:spLocks noGrp="1"/>
          </p:cNvSpPr>
          <p:nvPr>
            <p:ph type="title"/>
          </p:nvPr>
        </p:nvSpPr>
        <p:spPr/>
        <p:txBody>
          <a:bodyPr>
            <a:normAutofit/>
          </a:bodyPr>
          <a:lstStyle/>
          <a:p>
            <a:pPr algn="ctr"/>
            <a:r>
              <a:rPr lang="en-GB" sz="2800" dirty="0" smtClean="0"/>
              <a:t>Introduction</a:t>
            </a:r>
            <a:endParaRPr lang="en-US" sz="2800" dirty="0"/>
          </a:p>
        </p:txBody>
      </p:sp>
      <p:sp>
        <p:nvSpPr>
          <p:cNvPr id="4" name="Slide Number Placeholder 3"/>
          <p:cNvSpPr>
            <a:spLocks noGrp="1"/>
          </p:cNvSpPr>
          <p:nvPr>
            <p:ph type="sldNum" sz="quarter" idx="12"/>
          </p:nvPr>
        </p:nvSpPr>
        <p:spPr/>
        <p:txBody>
          <a:bodyPr/>
          <a:lstStyle/>
          <a:p>
            <a:fld id="{0A98E328-1B13-4AAD-AFCF-7CFCF18726C2}" type="slidenum">
              <a:rPr lang="en-US" smtClean="0"/>
              <a:pPr/>
              <a:t>3</a:t>
            </a:fld>
            <a:endParaRPr lang="en-US"/>
          </a:p>
        </p:txBody>
      </p:sp>
      <p:pic>
        <p:nvPicPr>
          <p:cNvPr id="5" name="Picture 4" descr="favicon-32x32.png"/>
          <p:cNvPicPr>
            <a:picLocks noChangeAspect="1"/>
          </p:cNvPicPr>
          <p:nvPr/>
        </p:nvPicPr>
        <p:blipFill>
          <a:blip r:embed="rId2"/>
          <a:stretch>
            <a:fillRect/>
          </a:stretch>
        </p:blipFill>
        <p:spPr>
          <a:xfrm>
            <a:off x="3643306" y="3429000"/>
            <a:ext cx="1785950" cy="1803289"/>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GB" sz="2800" dirty="0" smtClean="0"/>
              <a:t>Introduction</a:t>
            </a:r>
            <a:endParaRPr lang="en-US" sz="2800" dirty="0"/>
          </a:p>
        </p:txBody>
      </p:sp>
      <p:sp>
        <p:nvSpPr>
          <p:cNvPr id="5" name="Slide Number Placeholder 4"/>
          <p:cNvSpPr>
            <a:spLocks noGrp="1"/>
          </p:cNvSpPr>
          <p:nvPr>
            <p:ph type="sldNum" sz="quarter" idx="12"/>
          </p:nvPr>
        </p:nvSpPr>
        <p:spPr/>
        <p:txBody>
          <a:bodyPr/>
          <a:lstStyle/>
          <a:p>
            <a:fld id="{0A98E328-1B13-4AAD-AFCF-7CFCF18726C2}" type="slidenum">
              <a:rPr lang="en-US" smtClean="0"/>
              <a:pPr/>
              <a:t>4</a:t>
            </a:fld>
            <a:endParaRPr lang="en-US"/>
          </a:p>
        </p:txBody>
      </p:sp>
      <p:pic>
        <p:nvPicPr>
          <p:cNvPr id="7" name="Content Placeholder 6" descr="dapp.jpg"/>
          <p:cNvPicPr>
            <a:picLocks noGrp="1" noChangeAspect="1"/>
          </p:cNvPicPr>
          <p:nvPr>
            <p:ph idx="1"/>
          </p:nvPr>
        </p:nvPicPr>
        <p:blipFill>
          <a:blip r:embed="rId2"/>
          <a:stretch>
            <a:fillRect/>
          </a:stretch>
        </p:blipFill>
        <p:spPr>
          <a:xfrm>
            <a:off x="285720" y="1785926"/>
            <a:ext cx="8650212" cy="3623514"/>
          </a:xfr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A98E328-1B13-4AAD-AFCF-7CFCF18726C2}" type="slidenum">
              <a:rPr lang="en-US" smtClean="0"/>
              <a:pPr/>
              <a:t>5</a:t>
            </a:fld>
            <a:endParaRPr lang="en-US"/>
          </a:p>
        </p:txBody>
      </p:sp>
      <p:sp>
        <p:nvSpPr>
          <p:cNvPr id="4" name="Title 3"/>
          <p:cNvSpPr>
            <a:spLocks noGrp="1"/>
          </p:cNvSpPr>
          <p:nvPr>
            <p:ph type="title"/>
          </p:nvPr>
        </p:nvSpPr>
        <p:spPr/>
        <p:txBody>
          <a:bodyPr>
            <a:normAutofit/>
          </a:bodyPr>
          <a:lstStyle/>
          <a:p>
            <a:r>
              <a:rPr lang="en-GB" sz="3200" dirty="0" smtClean="0"/>
              <a:t>Introduction</a:t>
            </a:r>
            <a:endParaRPr lang="en-US" sz="3200" dirty="0"/>
          </a:p>
        </p:txBody>
      </p:sp>
      <p:pic>
        <p:nvPicPr>
          <p:cNvPr id="5" name="Picture 4" descr="Screenshot 2022-12-13 150956.jpg"/>
          <p:cNvPicPr>
            <a:picLocks noChangeAspect="1"/>
          </p:cNvPicPr>
          <p:nvPr/>
        </p:nvPicPr>
        <p:blipFill>
          <a:blip r:embed="rId2"/>
          <a:stretch>
            <a:fillRect/>
          </a:stretch>
        </p:blipFill>
        <p:spPr>
          <a:xfrm>
            <a:off x="142844" y="1714488"/>
            <a:ext cx="8858280" cy="3482347"/>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A98E328-1B13-4AAD-AFCF-7CFCF18726C2}" type="slidenum">
              <a:rPr lang="en-US" smtClean="0"/>
              <a:pPr/>
              <a:t>6</a:t>
            </a:fld>
            <a:endParaRPr lang="en-US"/>
          </a:p>
        </p:txBody>
      </p:sp>
      <p:sp>
        <p:nvSpPr>
          <p:cNvPr id="4" name="Title 3"/>
          <p:cNvSpPr>
            <a:spLocks noGrp="1"/>
          </p:cNvSpPr>
          <p:nvPr>
            <p:ph type="title"/>
          </p:nvPr>
        </p:nvSpPr>
        <p:spPr/>
        <p:txBody>
          <a:bodyPr>
            <a:normAutofit/>
          </a:bodyPr>
          <a:lstStyle/>
          <a:p>
            <a:r>
              <a:rPr lang="en-GB" sz="3200" dirty="0" smtClean="0"/>
              <a:t>Introduction</a:t>
            </a:r>
            <a:endParaRPr lang="en-US" sz="3200" dirty="0"/>
          </a:p>
        </p:txBody>
      </p:sp>
      <p:pic>
        <p:nvPicPr>
          <p:cNvPr id="5" name="Picture 4" descr="Screenshot 2022-12-13 151237.jpg"/>
          <p:cNvPicPr>
            <a:picLocks noChangeAspect="1"/>
          </p:cNvPicPr>
          <p:nvPr/>
        </p:nvPicPr>
        <p:blipFill>
          <a:blip r:embed="rId2"/>
          <a:stretch>
            <a:fillRect/>
          </a:stretch>
        </p:blipFill>
        <p:spPr>
          <a:xfrm>
            <a:off x="142844" y="1500174"/>
            <a:ext cx="8858280" cy="401067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A98E328-1B13-4AAD-AFCF-7CFCF18726C2}" type="slidenum">
              <a:rPr lang="en-US" smtClean="0"/>
              <a:pPr/>
              <a:t>7</a:t>
            </a:fld>
            <a:endParaRPr lang="en-US"/>
          </a:p>
        </p:txBody>
      </p:sp>
      <p:sp>
        <p:nvSpPr>
          <p:cNvPr id="4" name="Title 3"/>
          <p:cNvSpPr>
            <a:spLocks noGrp="1"/>
          </p:cNvSpPr>
          <p:nvPr>
            <p:ph type="title"/>
          </p:nvPr>
        </p:nvSpPr>
        <p:spPr/>
        <p:txBody>
          <a:bodyPr>
            <a:normAutofit/>
          </a:bodyPr>
          <a:lstStyle/>
          <a:p>
            <a:r>
              <a:rPr lang="en-GB" sz="2800" dirty="0" smtClean="0"/>
              <a:t>Introduction</a:t>
            </a:r>
            <a:endParaRPr lang="en-US" sz="2800" dirty="0"/>
          </a:p>
        </p:txBody>
      </p:sp>
      <p:pic>
        <p:nvPicPr>
          <p:cNvPr id="5" name="Picture 4" descr="new products.jpg"/>
          <p:cNvPicPr>
            <a:picLocks noChangeAspect="1"/>
          </p:cNvPicPr>
          <p:nvPr/>
        </p:nvPicPr>
        <p:blipFill>
          <a:blip r:embed="rId2"/>
          <a:stretch>
            <a:fillRect/>
          </a:stretch>
        </p:blipFill>
        <p:spPr>
          <a:xfrm>
            <a:off x="1500166" y="1785926"/>
            <a:ext cx="6000792" cy="3112911"/>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en-GB" sz="1600" b="1" dirty="0" smtClean="0"/>
              <a:t>How users can interact with Nonagon Finance:</a:t>
            </a:r>
          </a:p>
          <a:p>
            <a:pPr>
              <a:buNone/>
            </a:pPr>
            <a:endParaRPr lang="en-GB" sz="1600" b="1" dirty="0" smtClean="0"/>
          </a:p>
          <a:p>
            <a:pPr>
              <a:buNone/>
            </a:pPr>
            <a:endParaRPr lang="en-GB" sz="1600" dirty="0" smtClean="0"/>
          </a:p>
          <a:p>
            <a:pPr marL="452628" indent="-342900">
              <a:buFont typeface="Wingdings" pitchFamily="2" charset="2"/>
              <a:buChar char="q"/>
            </a:pPr>
            <a:r>
              <a:rPr lang="en-GB" sz="1600" dirty="0" smtClean="0"/>
              <a:t>Trade directly from your wallet, no account needed. Optionally select leverage up to 50x to multiply potential profits / losses. </a:t>
            </a:r>
          </a:p>
          <a:p>
            <a:pPr marL="452628" indent="-342900">
              <a:buFont typeface="Wingdings" pitchFamily="2" charset="2"/>
              <a:buChar char="q"/>
            </a:pPr>
            <a:endParaRPr lang="en-GB" sz="1600" dirty="0" smtClean="0"/>
          </a:p>
          <a:p>
            <a:pPr marL="452628" indent="-342900">
              <a:buFont typeface="Wingdings" pitchFamily="2" charset="2"/>
              <a:buChar char="q"/>
            </a:pPr>
            <a:r>
              <a:rPr lang="en-GB" sz="1600" dirty="0" smtClean="0"/>
              <a:t>Trades are free with 0% fees.</a:t>
            </a:r>
          </a:p>
          <a:p>
            <a:pPr marL="452628" indent="-342900">
              <a:buFont typeface="Wingdings" pitchFamily="2" charset="2"/>
              <a:buChar char="q"/>
            </a:pPr>
            <a:endParaRPr lang="en-GB" sz="1600" dirty="0" smtClean="0"/>
          </a:p>
          <a:p>
            <a:pPr marL="452628" indent="-342900">
              <a:buFont typeface="Wingdings" pitchFamily="2" charset="2"/>
              <a:buChar char="q"/>
            </a:pPr>
            <a:r>
              <a:rPr lang="en-GB" sz="1600" dirty="0" smtClean="0"/>
              <a:t>Traders can LONG or SHORT 21 different markets.</a:t>
            </a:r>
          </a:p>
          <a:p>
            <a:pPr marL="452628" indent="-342900">
              <a:buNone/>
            </a:pPr>
            <a:endParaRPr lang="en-GB" sz="1600" dirty="0" smtClean="0"/>
          </a:p>
          <a:p>
            <a:pPr marL="452628" indent="-342900">
              <a:buFont typeface="Wingdings" pitchFamily="2" charset="2"/>
              <a:buChar char="q"/>
            </a:pPr>
            <a:r>
              <a:rPr lang="en-GB" sz="1600" dirty="0" smtClean="0"/>
              <a:t>Pool ETH, USDC, TUSD, WBTC and SNX to back trader profits and receive a share of trader losses.</a:t>
            </a:r>
          </a:p>
          <a:p>
            <a:pPr marL="452628" indent="-342900">
              <a:buFont typeface="Wingdings" pitchFamily="2" charset="2"/>
              <a:buChar char="q"/>
            </a:pPr>
            <a:endParaRPr lang="en-GB" sz="1600" dirty="0" smtClean="0"/>
          </a:p>
          <a:p>
            <a:pPr>
              <a:buNone/>
            </a:pPr>
            <a:endParaRPr lang="en-US" sz="1600" dirty="0"/>
          </a:p>
        </p:txBody>
      </p:sp>
      <p:sp>
        <p:nvSpPr>
          <p:cNvPr id="3" name="Slide Number Placeholder 2"/>
          <p:cNvSpPr>
            <a:spLocks noGrp="1"/>
          </p:cNvSpPr>
          <p:nvPr>
            <p:ph type="sldNum" sz="quarter" idx="12"/>
          </p:nvPr>
        </p:nvSpPr>
        <p:spPr/>
        <p:txBody>
          <a:bodyPr/>
          <a:lstStyle/>
          <a:p>
            <a:fld id="{0A98E328-1B13-4AAD-AFCF-7CFCF18726C2}" type="slidenum">
              <a:rPr lang="en-US" smtClean="0"/>
              <a:pPr/>
              <a:t>8</a:t>
            </a:fld>
            <a:endParaRPr lang="en-US"/>
          </a:p>
        </p:txBody>
      </p:sp>
      <p:sp>
        <p:nvSpPr>
          <p:cNvPr id="4" name="Title 3"/>
          <p:cNvSpPr>
            <a:spLocks noGrp="1"/>
          </p:cNvSpPr>
          <p:nvPr>
            <p:ph type="title"/>
          </p:nvPr>
        </p:nvSpPr>
        <p:spPr/>
        <p:txBody>
          <a:bodyPr>
            <a:normAutofit/>
          </a:bodyPr>
          <a:lstStyle/>
          <a:p>
            <a:pPr algn="ctr"/>
            <a:r>
              <a:rPr lang="en-GB" sz="2800" dirty="0" smtClean="0"/>
              <a:t>Overview</a:t>
            </a:r>
            <a:endParaRPr lang="en-US"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en-GB" sz="1600" b="1" dirty="0" smtClean="0"/>
              <a:t>Since traders do not pay any trading fees, how do stakers in the pools and ONA token holders profit?</a:t>
            </a:r>
          </a:p>
          <a:p>
            <a:pPr>
              <a:buNone/>
            </a:pPr>
            <a:endParaRPr lang="en-GB" sz="1600" dirty="0" smtClean="0"/>
          </a:p>
          <a:p>
            <a:pPr>
              <a:buNone/>
            </a:pPr>
            <a:r>
              <a:rPr lang="en-GB" sz="1600" b="1" dirty="0" smtClean="0"/>
              <a:t>COLLATERAL POOL STAKER PROFIT:</a:t>
            </a:r>
          </a:p>
          <a:p>
            <a:r>
              <a:rPr lang="en-GB" sz="1600" dirty="0" smtClean="0"/>
              <a:t>When a trader for example goes short on the price of Polkadot, but the market moves in the other direction, then the loss of the trader becomes the profit for the staker of pool. See “Outcome 2”.</a:t>
            </a:r>
          </a:p>
          <a:p>
            <a:r>
              <a:rPr lang="en-GB" sz="1600" dirty="0" smtClean="0"/>
              <a:t>Rewards in case of liquidation (see “Outcome 3” on next slides for detailed description).</a:t>
            </a:r>
          </a:p>
          <a:p>
            <a:pPr>
              <a:buNone/>
            </a:pPr>
            <a:endParaRPr lang="en-GB" sz="1600" dirty="0" smtClean="0"/>
          </a:p>
          <a:p>
            <a:pPr>
              <a:buNone/>
            </a:pPr>
            <a:r>
              <a:rPr lang="en-GB" sz="1600" b="1" dirty="0" smtClean="0"/>
              <a:t>ONA TOKEN HOLDERS PROFIT:</a:t>
            </a:r>
          </a:p>
          <a:p>
            <a:r>
              <a:rPr lang="en-GB" sz="1600" dirty="0" smtClean="0"/>
              <a:t>Withdrawal fees from staking pools are distributed among ONA token holders who stake their ONA tokens in the ONA pool.</a:t>
            </a:r>
          </a:p>
          <a:p>
            <a:r>
              <a:rPr lang="en-GB" sz="1600" dirty="0" smtClean="0"/>
              <a:t>Rewards in case of liquidation (see “Outcome 3” on next slides for detailed description).</a:t>
            </a:r>
          </a:p>
          <a:p>
            <a:endParaRPr lang="en-GB" sz="1600" dirty="0" smtClean="0"/>
          </a:p>
          <a:p>
            <a:pPr>
              <a:buNone/>
            </a:pPr>
            <a:endParaRPr lang="en-GB" sz="1600" dirty="0" smtClean="0"/>
          </a:p>
          <a:p>
            <a:endParaRPr lang="en-GB" sz="1600" dirty="0" smtClean="0"/>
          </a:p>
          <a:p>
            <a:pPr>
              <a:buNone/>
            </a:pPr>
            <a:endParaRPr lang="en-US" sz="1600" dirty="0"/>
          </a:p>
        </p:txBody>
      </p:sp>
      <p:sp>
        <p:nvSpPr>
          <p:cNvPr id="3" name="Slide Number Placeholder 2"/>
          <p:cNvSpPr>
            <a:spLocks noGrp="1"/>
          </p:cNvSpPr>
          <p:nvPr>
            <p:ph type="sldNum" sz="quarter" idx="12"/>
          </p:nvPr>
        </p:nvSpPr>
        <p:spPr/>
        <p:txBody>
          <a:bodyPr/>
          <a:lstStyle/>
          <a:p>
            <a:fld id="{0A98E328-1B13-4AAD-AFCF-7CFCF18726C2}" type="slidenum">
              <a:rPr lang="en-US" smtClean="0"/>
              <a:pPr/>
              <a:t>9</a:t>
            </a:fld>
            <a:endParaRPr lang="en-US"/>
          </a:p>
        </p:txBody>
      </p:sp>
      <p:sp>
        <p:nvSpPr>
          <p:cNvPr id="4" name="Title 3"/>
          <p:cNvSpPr>
            <a:spLocks noGrp="1"/>
          </p:cNvSpPr>
          <p:nvPr>
            <p:ph type="title"/>
          </p:nvPr>
        </p:nvSpPr>
        <p:spPr/>
        <p:txBody>
          <a:bodyPr>
            <a:normAutofit/>
          </a:bodyPr>
          <a:lstStyle/>
          <a:p>
            <a:r>
              <a:rPr lang="en-GB" sz="2800" dirty="0" smtClean="0"/>
              <a:t>Protocol revenues</a:t>
            </a:r>
            <a:endParaRPr lang="en-US"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1.jpg"/>
          <p:cNvPicPr>
            <a:picLocks noGrp="1" noChangeAspect="1"/>
          </p:cNvPicPr>
          <p:nvPr>
            <p:ph idx="1"/>
          </p:nvPr>
        </p:nvPicPr>
        <p:blipFill>
          <a:blip r:embed="rId2"/>
          <a:stretch>
            <a:fillRect/>
          </a:stretch>
        </p:blipFill>
        <p:spPr>
          <a:xfrm>
            <a:off x="500034" y="2071678"/>
            <a:ext cx="8072462" cy="2683939"/>
          </a:xfrm>
        </p:spPr>
      </p:pic>
      <p:sp>
        <p:nvSpPr>
          <p:cNvPr id="3" name="Slide Number Placeholder 2"/>
          <p:cNvSpPr>
            <a:spLocks noGrp="1"/>
          </p:cNvSpPr>
          <p:nvPr>
            <p:ph type="sldNum" sz="quarter" idx="12"/>
          </p:nvPr>
        </p:nvSpPr>
        <p:spPr/>
        <p:txBody>
          <a:bodyPr/>
          <a:lstStyle/>
          <a:p>
            <a:fld id="{0A98E328-1B13-4AAD-AFCF-7CFCF18726C2}" type="slidenum">
              <a:rPr lang="en-US" smtClean="0"/>
              <a:pPr/>
              <a:t>10</a:t>
            </a:fld>
            <a:endParaRPr lang="en-US"/>
          </a:p>
        </p:txBody>
      </p:sp>
      <p:sp>
        <p:nvSpPr>
          <p:cNvPr id="4" name="Title 3"/>
          <p:cNvSpPr>
            <a:spLocks noGrp="1"/>
          </p:cNvSpPr>
          <p:nvPr>
            <p:ph type="title"/>
          </p:nvPr>
        </p:nvSpPr>
        <p:spPr/>
        <p:txBody>
          <a:bodyPr>
            <a:normAutofit/>
          </a:bodyPr>
          <a:lstStyle/>
          <a:p>
            <a:r>
              <a:rPr lang="en-GB" sz="2800" dirty="0" smtClean="0"/>
              <a:t>Protocol revenues</a:t>
            </a:r>
            <a:endParaRPr 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Screenshot 2022-12-24 002043.jpg"/>
          <p:cNvPicPr>
            <a:picLocks noGrp="1" noChangeAspect="1"/>
          </p:cNvPicPr>
          <p:nvPr>
            <p:ph idx="1"/>
          </p:nvPr>
        </p:nvPicPr>
        <p:blipFill>
          <a:blip r:embed="rId2"/>
          <a:stretch>
            <a:fillRect/>
          </a:stretch>
        </p:blipFill>
        <p:spPr>
          <a:xfrm>
            <a:off x="214282" y="1714488"/>
            <a:ext cx="8806773" cy="3714776"/>
          </a:xfrm>
        </p:spPr>
      </p:pic>
      <p:sp>
        <p:nvSpPr>
          <p:cNvPr id="3" name="Slide Number Placeholder 2"/>
          <p:cNvSpPr>
            <a:spLocks noGrp="1"/>
          </p:cNvSpPr>
          <p:nvPr>
            <p:ph type="sldNum" sz="quarter" idx="12"/>
          </p:nvPr>
        </p:nvSpPr>
        <p:spPr/>
        <p:txBody>
          <a:bodyPr/>
          <a:lstStyle/>
          <a:p>
            <a:fld id="{0A98E328-1B13-4AAD-AFCF-7CFCF18726C2}" type="slidenum">
              <a:rPr lang="en-US" smtClean="0"/>
              <a:pPr/>
              <a:t>11</a:t>
            </a:fld>
            <a:endParaRPr lang="en-US"/>
          </a:p>
        </p:txBody>
      </p:sp>
      <p:sp>
        <p:nvSpPr>
          <p:cNvPr id="4" name="Title 3"/>
          <p:cNvSpPr>
            <a:spLocks noGrp="1"/>
          </p:cNvSpPr>
          <p:nvPr>
            <p:ph type="title"/>
          </p:nvPr>
        </p:nvSpPr>
        <p:spPr/>
        <p:txBody>
          <a:bodyPr>
            <a:normAutofit/>
          </a:bodyPr>
          <a:lstStyle/>
          <a:p>
            <a:r>
              <a:rPr lang="en-GB" sz="2800" dirty="0" smtClean="0"/>
              <a:t>Protocol revenues</a:t>
            </a:r>
            <a:endParaRPr 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Screenshot 2022-12-24 002144.jpg"/>
          <p:cNvPicPr>
            <a:picLocks noGrp="1" noChangeAspect="1"/>
          </p:cNvPicPr>
          <p:nvPr>
            <p:ph idx="1"/>
          </p:nvPr>
        </p:nvPicPr>
        <p:blipFill>
          <a:blip r:embed="rId2"/>
          <a:stretch>
            <a:fillRect/>
          </a:stretch>
        </p:blipFill>
        <p:spPr>
          <a:xfrm>
            <a:off x="41936" y="1500175"/>
            <a:ext cx="9030930" cy="3929090"/>
          </a:xfrm>
        </p:spPr>
      </p:pic>
      <p:sp>
        <p:nvSpPr>
          <p:cNvPr id="3" name="Slide Number Placeholder 2"/>
          <p:cNvSpPr>
            <a:spLocks noGrp="1"/>
          </p:cNvSpPr>
          <p:nvPr>
            <p:ph type="sldNum" sz="quarter" idx="12"/>
          </p:nvPr>
        </p:nvSpPr>
        <p:spPr/>
        <p:txBody>
          <a:bodyPr/>
          <a:lstStyle/>
          <a:p>
            <a:fld id="{0A98E328-1B13-4AAD-AFCF-7CFCF18726C2}" type="slidenum">
              <a:rPr lang="en-US" smtClean="0"/>
              <a:pPr/>
              <a:t>12</a:t>
            </a:fld>
            <a:endParaRPr lang="en-US"/>
          </a:p>
        </p:txBody>
      </p:sp>
      <p:sp>
        <p:nvSpPr>
          <p:cNvPr id="4" name="Title 3"/>
          <p:cNvSpPr>
            <a:spLocks noGrp="1"/>
          </p:cNvSpPr>
          <p:nvPr>
            <p:ph type="title"/>
          </p:nvPr>
        </p:nvSpPr>
        <p:spPr/>
        <p:txBody>
          <a:bodyPr>
            <a:normAutofit/>
          </a:bodyPr>
          <a:lstStyle/>
          <a:p>
            <a:r>
              <a:rPr lang="en-GB" sz="2800" dirty="0" smtClean="0"/>
              <a:t>Protocol revenues</a:t>
            </a:r>
            <a:endParaRPr lang="en-US" sz="2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8596" y="1285860"/>
            <a:ext cx="8215370" cy="4929222"/>
          </a:xfrm>
        </p:spPr>
        <p:txBody>
          <a:bodyPr>
            <a:normAutofit/>
          </a:bodyPr>
          <a:lstStyle/>
          <a:p>
            <a:pPr>
              <a:buNone/>
            </a:pPr>
            <a:r>
              <a:rPr lang="en-GB" sz="1600" b="1" dirty="0" smtClean="0"/>
              <a:t>Why are no protocol revenues generated and why are there literally no traders and investors yet?  How will the raised funds from the Gnosis Auction be used?</a:t>
            </a:r>
          </a:p>
          <a:p>
            <a:pPr>
              <a:buNone/>
            </a:pPr>
            <a:endParaRPr lang="en-GB" sz="1600" b="1" dirty="0" smtClean="0"/>
          </a:p>
          <a:p>
            <a:r>
              <a:rPr lang="en-GB" sz="1600" dirty="0" smtClean="0"/>
              <a:t>Nonagon focused since its inception in Q3 2022 on the technical solution alone and didn’t conduct marketing campaigns as well as did not </a:t>
            </a:r>
            <a:r>
              <a:rPr lang="en-GB" sz="1600" smtClean="0"/>
              <a:t>raise any capital</a:t>
            </a:r>
            <a:r>
              <a:rPr lang="en-GB" sz="1600" dirty="0" smtClean="0"/>
              <a:t>.</a:t>
            </a:r>
          </a:p>
          <a:p>
            <a:endParaRPr lang="en-GB" sz="1600" dirty="0" smtClean="0"/>
          </a:p>
          <a:p>
            <a:r>
              <a:rPr lang="en-GB" sz="1600" dirty="0" smtClean="0"/>
              <a:t>Marketing campaigns for DeFi projects are not free and raising funds for the financing of those is one of the token auction goals, whereas it is planned to distribute up to 20% of the total funds raised in efforts to raise awareness about Nonagon among traders and stakers.</a:t>
            </a:r>
          </a:p>
          <a:p>
            <a:endParaRPr lang="en-GB" sz="1600" dirty="0" smtClean="0"/>
          </a:p>
          <a:p>
            <a:r>
              <a:rPr lang="en-GB" sz="1600" dirty="0" smtClean="0"/>
              <a:t>The pools are empty since no stakers can be attracted if their balance is zero. Therefore 70% of the funds raised through the sale of ONA tokens will go to the staking pools as well as the ONA – ETH pool on Uniswap which at the moment has a miniscule liquidity of approx. 1.000 USD. </a:t>
            </a:r>
            <a:endParaRPr lang="en-US" sz="1600" dirty="0"/>
          </a:p>
        </p:txBody>
      </p:sp>
      <p:sp>
        <p:nvSpPr>
          <p:cNvPr id="3" name="Slide Number Placeholder 2"/>
          <p:cNvSpPr>
            <a:spLocks noGrp="1"/>
          </p:cNvSpPr>
          <p:nvPr>
            <p:ph type="sldNum" sz="quarter" idx="12"/>
          </p:nvPr>
        </p:nvSpPr>
        <p:spPr/>
        <p:txBody>
          <a:bodyPr/>
          <a:lstStyle/>
          <a:p>
            <a:fld id="{0A98E328-1B13-4AAD-AFCF-7CFCF18726C2}" type="slidenum">
              <a:rPr lang="en-US" smtClean="0"/>
              <a:pPr/>
              <a:t>13</a:t>
            </a:fld>
            <a:endParaRPr lang="en-US"/>
          </a:p>
        </p:txBody>
      </p:sp>
      <p:sp>
        <p:nvSpPr>
          <p:cNvPr id="4" name="Title 3"/>
          <p:cNvSpPr>
            <a:spLocks noGrp="1"/>
          </p:cNvSpPr>
          <p:nvPr>
            <p:ph type="title"/>
          </p:nvPr>
        </p:nvSpPr>
        <p:spPr/>
        <p:txBody>
          <a:bodyPr>
            <a:normAutofit/>
          </a:bodyPr>
          <a:lstStyle/>
          <a:p>
            <a:r>
              <a:rPr lang="en-GB" sz="2800" dirty="0" smtClean="0"/>
              <a:t>Protocol revenues</a:t>
            </a:r>
            <a:endParaRPr lang="en-US" sz="28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7158" y="1357298"/>
            <a:ext cx="8258204" cy="1304730"/>
          </a:xfrm>
        </p:spPr>
        <p:txBody>
          <a:bodyPr>
            <a:normAutofit lnSpcReduction="10000"/>
          </a:bodyPr>
          <a:lstStyle/>
          <a:p>
            <a:r>
              <a:rPr lang="en-GB" sz="1600" dirty="0" smtClean="0"/>
              <a:t>Up to 20% of total funds raised will be used for further protocol development, such as the deployment of Nonagon to Ethereum, BSC, Tron and Avalanche. </a:t>
            </a:r>
            <a:endParaRPr lang="en-US" sz="1600" dirty="0" smtClean="0"/>
          </a:p>
          <a:p>
            <a:endParaRPr lang="en-GB" sz="1600" dirty="0" smtClean="0"/>
          </a:p>
          <a:p>
            <a:pPr algn="ctr">
              <a:buNone/>
            </a:pPr>
            <a:r>
              <a:rPr lang="en-GB" sz="1600" b="1" dirty="0" smtClean="0"/>
              <a:t>The graphic below shows the Total Value Locked TVL in </a:t>
            </a:r>
            <a:r>
              <a:rPr lang="en-GB" sz="1600" b="1" dirty="0" smtClean="0"/>
              <a:t>all EVM compatible </a:t>
            </a:r>
            <a:r>
              <a:rPr lang="en-GB" sz="1600" b="1" dirty="0" smtClean="0"/>
              <a:t>chains</a:t>
            </a:r>
          </a:p>
        </p:txBody>
      </p:sp>
      <p:sp>
        <p:nvSpPr>
          <p:cNvPr id="3" name="Slide Number Placeholder 2"/>
          <p:cNvSpPr>
            <a:spLocks noGrp="1"/>
          </p:cNvSpPr>
          <p:nvPr>
            <p:ph type="sldNum" sz="quarter" idx="12"/>
          </p:nvPr>
        </p:nvSpPr>
        <p:spPr/>
        <p:txBody>
          <a:bodyPr/>
          <a:lstStyle/>
          <a:p>
            <a:fld id="{0A98E328-1B13-4AAD-AFCF-7CFCF18726C2}" type="slidenum">
              <a:rPr lang="en-US" smtClean="0"/>
              <a:pPr/>
              <a:t>14</a:t>
            </a:fld>
            <a:endParaRPr lang="en-US"/>
          </a:p>
        </p:txBody>
      </p:sp>
      <p:sp>
        <p:nvSpPr>
          <p:cNvPr id="4" name="Title 3"/>
          <p:cNvSpPr>
            <a:spLocks noGrp="1"/>
          </p:cNvSpPr>
          <p:nvPr>
            <p:ph type="title"/>
          </p:nvPr>
        </p:nvSpPr>
        <p:spPr/>
        <p:txBody>
          <a:bodyPr>
            <a:normAutofit/>
          </a:bodyPr>
          <a:lstStyle/>
          <a:p>
            <a:r>
              <a:rPr lang="en-GB" sz="2800" dirty="0" smtClean="0"/>
              <a:t>Protocol development</a:t>
            </a:r>
            <a:endParaRPr lang="en-US" sz="2800" dirty="0"/>
          </a:p>
        </p:txBody>
      </p:sp>
      <p:pic>
        <p:nvPicPr>
          <p:cNvPr id="5" name="Picture 4" descr="Screenshot 2022-12-24 010335.jpg"/>
          <p:cNvPicPr>
            <a:picLocks noChangeAspect="1"/>
          </p:cNvPicPr>
          <p:nvPr/>
        </p:nvPicPr>
        <p:blipFill>
          <a:blip r:embed="rId2"/>
          <a:stretch>
            <a:fillRect/>
          </a:stretch>
        </p:blipFill>
        <p:spPr>
          <a:xfrm>
            <a:off x="1357290" y="2714620"/>
            <a:ext cx="6500858" cy="3371123"/>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A98E328-1B13-4AAD-AFCF-7CFCF18726C2}" type="slidenum">
              <a:rPr lang="en-US" smtClean="0"/>
              <a:pPr/>
              <a:t>15</a:t>
            </a:fld>
            <a:endParaRPr lang="en-US"/>
          </a:p>
        </p:txBody>
      </p:sp>
      <p:sp>
        <p:nvSpPr>
          <p:cNvPr id="4" name="Title 3"/>
          <p:cNvSpPr>
            <a:spLocks noGrp="1"/>
          </p:cNvSpPr>
          <p:nvPr>
            <p:ph type="title"/>
          </p:nvPr>
        </p:nvSpPr>
        <p:spPr>
          <a:xfrm>
            <a:off x="500034" y="142852"/>
            <a:ext cx="8229600" cy="1143000"/>
          </a:xfrm>
        </p:spPr>
        <p:txBody>
          <a:bodyPr>
            <a:normAutofit/>
          </a:bodyPr>
          <a:lstStyle/>
          <a:p>
            <a:pPr algn="ctr"/>
            <a:r>
              <a:rPr lang="en-GB" sz="2800" dirty="0" smtClean="0"/>
              <a:t>Architecture – components and deployment</a:t>
            </a:r>
            <a:endParaRPr lang="en-US" sz="2800" dirty="0"/>
          </a:p>
        </p:txBody>
      </p:sp>
      <p:pic>
        <p:nvPicPr>
          <p:cNvPr id="11" name="Content Placeholder 10" descr="Screenshot 2022-12-11 175012.jpg"/>
          <p:cNvPicPr>
            <a:picLocks noGrp="1" noChangeAspect="1"/>
          </p:cNvPicPr>
          <p:nvPr>
            <p:ph idx="1"/>
          </p:nvPr>
        </p:nvPicPr>
        <p:blipFill>
          <a:blip r:embed="rId2"/>
          <a:stretch>
            <a:fillRect/>
          </a:stretch>
        </p:blipFill>
        <p:spPr>
          <a:xfrm>
            <a:off x="642910" y="928670"/>
            <a:ext cx="7915000" cy="4986450"/>
          </a:xfr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buNone/>
            </a:pPr>
            <a:r>
              <a:rPr lang="en-GB" sz="1600" b="1" u="sng" dirty="0" smtClean="0"/>
              <a:t>Trade execution:</a:t>
            </a:r>
            <a:endParaRPr lang="en-US" sz="1600" b="1" u="sng" dirty="0" smtClean="0"/>
          </a:p>
          <a:p>
            <a:r>
              <a:rPr lang="en-US" sz="1600" b="1" dirty="0" smtClean="0"/>
              <a:t>Trading </a:t>
            </a:r>
            <a:r>
              <a:rPr lang="en-US" sz="1600" dirty="0" smtClean="0"/>
              <a:t>0x699ec8F15802A17B74821894088E8733b5a59C63</a:t>
            </a:r>
          </a:p>
          <a:p>
            <a:r>
              <a:rPr lang="en-US" sz="1600" b="1" dirty="0" smtClean="0"/>
              <a:t>Router </a:t>
            </a:r>
            <a:r>
              <a:rPr lang="en-US" sz="1600" dirty="0" smtClean="0"/>
              <a:t>0xAEbcB1D4655bDb0D753AAD238beb32000c4B91AC</a:t>
            </a:r>
          </a:p>
          <a:p>
            <a:r>
              <a:rPr lang="en-US" sz="1600" b="1" dirty="0" smtClean="0"/>
              <a:t>Treasury </a:t>
            </a:r>
            <a:r>
              <a:rPr lang="en-US" sz="1600" dirty="0" smtClean="0"/>
              <a:t>0x885C00125AaF2bf16d4A527b33BFEE20Ae5E121c</a:t>
            </a:r>
          </a:p>
          <a:p>
            <a:r>
              <a:rPr lang="en-US" sz="1600" b="1" dirty="0" smtClean="0"/>
              <a:t>Oracle </a:t>
            </a:r>
            <a:r>
              <a:rPr lang="en-US" sz="1600" dirty="0" smtClean="0"/>
              <a:t>0x8F2D8BA71B65d3F341E173d8a2AC049CA397e497</a:t>
            </a:r>
          </a:p>
          <a:p>
            <a:endParaRPr lang="en-GB" sz="1600" dirty="0" smtClean="0"/>
          </a:p>
          <a:p>
            <a:pPr>
              <a:buNone/>
            </a:pPr>
            <a:r>
              <a:rPr lang="en-GB" sz="1600" b="1" u="sng" dirty="0" smtClean="0"/>
              <a:t>Pools:</a:t>
            </a:r>
            <a:endParaRPr lang="en-US" sz="1600" b="1" u="sng" dirty="0" smtClean="0"/>
          </a:p>
          <a:p>
            <a:r>
              <a:rPr lang="en-US" sz="1600" b="1" dirty="0" smtClean="0"/>
              <a:t>PoolONA </a:t>
            </a:r>
            <a:r>
              <a:rPr lang="en-US" sz="1600" dirty="0" smtClean="0"/>
              <a:t>0x58Bd1102f3dABDf95F2D5D2147F4d96Ef66973B8</a:t>
            </a:r>
          </a:p>
          <a:p>
            <a:r>
              <a:rPr lang="en-US" sz="1600" b="1" dirty="0" smtClean="0"/>
              <a:t>ONArewardsUSD C</a:t>
            </a:r>
            <a:r>
              <a:rPr lang="en-US" sz="1600" dirty="0" smtClean="0"/>
              <a:t>0x4b516Cd2a47AF1B1641f06E92fdfdad6CBB07c52</a:t>
            </a:r>
          </a:p>
          <a:p>
            <a:pPr>
              <a:buFont typeface="Wingdings"/>
              <a:buChar char="à"/>
            </a:pPr>
            <a:r>
              <a:rPr lang="en-GB" sz="1600" dirty="0" smtClean="0">
                <a:sym typeface="Wingdings" pitchFamily="2" charset="2"/>
              </a:rPr>
              <a:t>There is a ONArewards pool for every staking pool separately, which are used for collecting protocol based revenue such as withdrawal fees, since there are no trading fees.</a:t>
            </a:r>
          </a:p>
          <a:p>
            <a:pPr>
              <a:buNone/>
            </a:pPr>
            <a:endParaRPr lang="en-GB" sz="1600" dirty="0" smtClean="0">
              <a:sym typeface="Wingdings" pitchFamily="2" charset="2"/>
            </a:endParaRPr>
          </a:p>
          <a:p>
            <a:pPr>
              <a:buFont typeface="Wingdings" pitchFamily="2" charset="2"/>
              <a:buChar char="Ø"/>
            </a:pPr>
            <a:r>
              <a:rPr lang="en-US" sz="1600" b="1" dirty="0" smtClean="0"/>
              <a:t>Pool Rewards USDC </a:t>
            </a:r>
            <a:r>
              <a:rPr lang="en-US" sz="1600" dirty="0" smtClean="0"/>
              <a:t>0xcE8eF8e0f0FE68c618A7a9A8ab6871511f41B403</a:t>
            </a:r>
          </a:p>
          <a:p>
            <a:pPr>
              <a:buNone/>
            </a:pPr>
            <a:r>
              <a:rPr lang="en-GB" sz="1600" dirty="0" smtClean="0">
                <a:sym typeface="Wingdings" pitchFamily="2" charset="2"/>
              </a:rPr>
              <a:t> There is a Rewards pool for every staking pool separately for receiving profits.</a:t>
            </a:r>
            <a:endParaRPr lang="en-US" sz="1600" dirty="0" smtClean="0"/>
          </a:p>
          <a:p>
            <a:endParaRPr lang="en-GB" sz="1600" dirty="0" smtClean="0"/>
          </a:p>
          <a:p>
            <a:pPr>
              <a:buNone/>
            </a:pPr>
            <a:endParaRPr lang="en-US" sz="1600" dirty="0" smtClean="0"/>
          </a:p>
          <a:p>
            <a:endParaRPr lang="en-GB" sz="1600" dirty="0" smtClean="0"/>
          </a:p>
        </p:txBody>
      </p:sp>
      <p:sp>
        <p:nvSpPr>
          <p:cNvPr id="3" name="Slide Number Placeholder 2"/>
          <p:cNvSpPr>
            <a:spLocks noGrp="1"/>
          </p:cNvSpPr>
          <p:nvPr>
            <p:ph type="sldNum" sz="quarter" idx="12"/>
          </p:nvPr>
        </p:nvSpPr>
        <p:spPr/>
        <p:txBody>
          <a:bodyPr/>
          <a:lstStyle/>
          <a:p>
            <a:fld id="{0A98E328-1B13-4AAD-AFCF-7CFCF18726C2}" type="slidenum">
              <a:rPr lang="en-US" smtClean="0"/>
              <a:pPr/>
              <a:t>16</a:t>
            </a:fld>
            <a:endParaRPr lang="en-US"/>
          </a:p>
        </p:txBody>
      </p:sp>
      <p:sp>
        <p:nvSpPr>
          <p:cNvPr id="4" name="Title 3"/>
          <p:cNvSpPr>
            <a:spLocks noGrp="1"/>
          </p:cNvSpPr>
          <p:nvPr>
            <p:ph type="title"/>
          </p:nvPr>
        </p:nvSpPr>
        <p:spPr/>
        <p:txBody>
          <a:bodyPr>
            <a:normAutofit/>
          </a:bodyPr>
          <a:lstStyle/>
          <a:p>
            <a:r>
              <a:rPr lang="en-GB" sz="2800" dirty="0" smtClean="0"/>
              <a:t>Smart contracts</a:t>
            </a:r>
            <a:endParaRPr lang="en-US" sz="28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A98E328-1B13-4AAD-AFCF-7CFCF18726C2}" type="slidenum">
              <a:rPr lang="en-US" smtClean="0"/>
              <a:pPr/>
              <a:t>17</a:t>
            </a:fld>
            <a:endParaRPr lang="en-US"/>
          </a:p>
        </p:txBody>
      </p:sp>
      <p:sp>
        <p:nvSpPr>
          <p:cNvPr id="4" name="Title 3"/>
          <p:cNvSpPr>
            <a:spLocks noGrp="1"/>
          </p:cNvSpPr>
          <p:nvPr>
            <p:ph type="title"/>
          </p:nvPr>
        </p:nvSpPr>
        <p:spPr/>
        <p:txBody>
          <a:bodyPr>
            <a:normAutofit/>
          </a:bodyPr>
          <a:lstStyle/>
          <a:p>
            <a:r>
              <a:rPr lang="en-GB" sz="2800" dirty="0" smtClean="0"/>
              <a:t>The Graph</a:t>
            </a:r>
            <a:endParaRPr lang="en-US" sz="2800" dirty="0"/>
          </a:p>
        </p:txBody>
      </p:sp>
      <p:pic>
        <p:nvPicPr>
          <p:cNvPr id="5" name="Picture 4" descr="Screenshot 2022-12-13 155245.jpg"/>
          <p:cNvPicPr>
            <a:picLocks noChangeAspect="1"/>
          </p:cNvPicPr>
          <p:nvPr/>
        </p:nvPicPr>
        <p:blipFill>
          <a:blip r:embed="rId2"/>
          <a:stretch>
            <a:fillRect/>
          </a:stretch>
        </p:blipFill>
        <p:spPr>
          <a:xfrm>
            <a:off x="357158" y="2000240"/>
            <a:ext cx="8358214" cy="3067925"/>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endParaRPr lang="en-GB" sz="1200" dirty="0" smtClean="0"/>
          </a:p>
          <a:p>
            <a:pPr>
              <a:buNone/>
            </a:pPr>
            <a:r>
              <a:rPr lang="en-US" sz="1200" dirty="0" smtClean="0"/>
              <a:t>https://nonagon.finance/</a:t>
            </a:r>
          </a:p>
          <a:p>
            <a:pPr>
              <a:buNone/>
            </a:pPr>
            <a:endParaRPr lang="en-US" sz="1200" dirty="0" smtClean="0"/>
          </a:p>
          <a:p>
            <a:pPr>
              <a:buNone/>
            </a:pPr>
            <a:r>
              <a:rPr lang="en-US" sz="1200" dirty="0" smtClean="0"/>
              <a:t>https://github.com/Nonagon-Finance</a:t>
            </a:r>
          </a:p>
          <a:p>
            <a:pPr>
              <a:buNone/>
            </a:pPr>
            <a:endParaRPr lang="en-US" sz="1200" dirty="0" smtClean="0"/>
          </a:p>
          <a:p>
            <a:pPr>
              <a:buNone/>
            </a:pPr>
            <a:r>
              <a:rPr lang="en-US" sz="1200" dirty="0" smtClean="0"/>
              <a:t>https://thegraph.com/hosted-service/subgraph/nedimrenesalis/nonagon?selected=playground</a:t>
            </a:r>
          </a:p>
          <a:p>
            <a:pPr>
              <a:buNone/>
            </a:pPr>
            <a:endParaRPr lang="en-US" sz="1200" dirty="0" smtClean="0"/>
          </a:p>
          <a:p>
            <a:pPr>
              <a:buNone/>
            </a:pPr>
            <a:r>
              <a:rPr lang="en-US" sz="1200" dirty="0" smtClean="0"/>
              <a:t>https://nonagon-finance.gitbook.io/introduction/</a:t>
            </a:r>
          </a:p>
          <a:p>
            <a:pPr>
              <a:buNone/>
            </a:pPr>
            <a:endParaRPr lang="en-US" sz="1200" dirty="0" smtClean="0"/>
          </a:p>
          <a:p>
            <a:pPr>
              <a:buNone/>
            </a:pPr>
            <a:r>
              <a:rPr lang="en-US" sz="1200" dirty="0" smtClean="0"/>
              <a:t>https://www.optimism.io/</a:t>
            </a:r>
          </a:p>
          <a:p>
            <a:pPr>
              <a:buNone/>
            </a:pPr>
            <a:endParaRPr lang="en-GB" sz="1200" dirty="0" smtClean="0"/>
          </a:p>
          <a:p>
            <a:pPr>
              <a:buNone/>
            </a:pPr>
            <a:r>
              <a:rPr lang="en-US" sz="1200" dirty="0" smtClean="0"/>
              <a:t>https://defillama.com/chains</a:t>
            </a:r>
          </a:p>
          <a:p>
            <a:pPr>
              <a:buNone/>
            </a:pPr>
            <a:endParaRPr lang="en-US" sz="1200" dirty="0" smtClean="0"/>
          </a:p>
          <a:p>
            <a:pPr>
              <a:buNone/>
            </a:pPr>
            <a:endParaRPr lang="en-US" sz="1200" dirty="0" smtClean="0"/>
          </a:p>
          <a:p>
            <a:pPr>
              <a:buNone/>
            </a:pPr>
            <a:endParaRPr lang="en-GB" sz="1600" dirty="0" smtClean="0"/>
          </a:p>
          <a:p>
            <a:pPr>
              <a:buNone/>
            </a:pPr>
            <a:endParaRPr lang="en-US" sz="1600" dirty="0"/>
          </a:p>
        </p:txBody>
      </p:sp>
      <p:sp>
        <p:nvSpPr>
          <p:cNvPr id="3" name="Slide Number Placeholder 2"/>
          <p:cNvSpPr>
            <a:spLocks noGrp="1"/>
          </p:cNvSpPr>
          <p:nvPr>
            <p:ph type="sldNum" sz="quarter" idx="12"/>
          </p:nvPr>
        </p:nvSpPr>
        <p:spPr/>
        <p:txBody>
          <a:bodyPr/>
          <a:lstStyle/>
          <a:p>
            <a:fld id="{0A98E328-1B13-4AAD-AFCF-7CFCF18726C2}" type="slidenum">
              <a:rPr lang="en-US" smtClean="0"/>
              <a:pPr/>
              <a:t>18</a:t>
            </a:fld>
            <a:endParaRPr lang="en-US"/>
          </a:p>
        </p:txBody>
      </p:sp>
      <p:sp>
        <p:nvSpPr>
          <p:cNvPr id="4" name="Title 3"/>
          <p:cNvSpPr>
            <a:spLocks noGrp="1"/>
          </p:cNvSpPr>
          <p:nvPr>
            <p:ph type="title"/>
          </p:nvPr>
        </p:nvSpPr>
        <p:spPr/>
        <p:txBody>
          <a:bodyPr>
            <a:normAutofit/>
          </a:bodyPr>
          <a:lstStyle/>
          <a:p>
            <a:pPr algn="ctr"/>
            <a:r>
              <a:rPr lang="en-GB" sz="2800" dirty="0" smtClean="0"/>
              <a:t>Sources</a:t>
            </a:r>
            <a:endParaRPr lang="en-US" sz="2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A98E328-1B13-4AAD-AFCF-7CFCF18726C2}" type="slidenum">
              <a:rPr lang="en-US" smtClean="0"/>
              <a:pPr/>
              <a:t>19</a:t>
            </a:fld>
            <a:endParaRPr lang="en-US"/>
          </a:p>
        </p:txBody>
      </p:sp>
      <p:pic>
        <p:nvPicPr>
          <p:cNvPr id="5" name="Picture 4" descr="Beige Modern Coffee Shop Banner Landscape.png"/>
          <p:cNvPicPr>
            <a:picLocks noChangeAspect="1"/>
          </p:cNvPicPr>
          <p:nvPr/>
        </p:nvPicPr>
        <p:blipFill>
          <a:blip r:embed="rId2" cstate="print"/>
          <a:stretch>
            <a:fillRect/>
          </a:stretch>
        </p:blipFill>
        <p:spPr>
          <a:xfrm>
            <a:off x="0" y="1143000"/>
            <a:ext cx="9144000" cy="457200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A98E328-1B13-4AAD-AFCF-7CFCF18726C2}" type="slidenum">
              <a:rPr lang="en-US" smtClean="0"/>
              <a:pPr/>
              <a:t>20</a:t>
            </a:fld>
            <a:endParaRPr lang="en-US"/>
          </a:p>
        </p:txBody>
      </p:sp>
      <p:pic>
        <p:nvPicPr>
          <p:cNvPr id="5" name="Picture 4" descr="Screenshot 2022-12-11 161859.jpg"/>
          <p:cNvPicPr>
            <a:picLocks noChangeAspect="1"/>
          </p:cNvPicPr>
          <p:nvPr/>
        </p:nvPicPr>
        <p:blipFill>
          <a:blip r:embed="rId2"/>
          <a:stretch>
            <a:fillRect/>
          </a:stretch>
        </p:blipFill>
        <p:spPr>
          <a:xfrm>
            <a:off x="785786" y="1500174"/>
            <a:ext cx="7519548" cy="3786214"/>
          </a:xfrm>
          <a:prstGeom prst="rect">
            <a:avLst/>
          </a:prstGeom>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2741</TotalTime>
  <Words>572</Words>
  <Application>Microsoft Office PowerPoint</Application>
  <PresentationFormat>On-screen Show (4:3)</PresentationFormat>
  <Paragraphs>108</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Concourse</vt:lpstr>
      <vt:lpstr>Slide 1</vt:lpstr>
      <vt:lpstr>Slide 2</vt:lpstr>
      <vt:lpstr>Introduction</vt:lpstr>
      <vt:lpstr>Introduction</vt:lpstr>
      <vt:lpstr>Introduction</vt:lpstr>
      <vt:lpstr>Introduction</vt:lpstr>
      <vt:lpstr>Introduction</vt:lpstr>
      <vt:lpstr>Overview</vt:lpstr>
      <vt:lpstr>Protocol revenues</vt:lpstr>
      <vt:lpstr>Protocol revenues</vt:lpstr>
      <vt:lpstr>Protocol revenues</vt:lpstr>
      <vt:lpstr>Protocol revenues</vt:lpstr>
      <vt:lpstr>Protocol revenues</vt:lpstr>
      <vt:lpstr>Protocol development</vt:lpstr>
      <vt:lpstr>Architecture – components and deployment</vt:lpstr>
      <vt:lpstr>Smart contracts</vt:lpstr>
      <vt:lpstr>The Graph</vt:lpstr>
      <vt:lpstr>Sources</vt:lpstr>
      <vt:lpstr>Slide 19</vt:lpstr>
      <vt:lpstr>Slide 20</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43699</dc:creator>
  <cp:lastModifiedBy>43699</cp:lastModifiedBy>
  <cp:revision>104</cp:revision>
  <dcterms:created xsi:type="dcterms:W3CDTF">2022-12-11T00:05:16Z</dcterms:created>
  <dcterms:modified xsi:type="dcterms:W3CDTF">2022-12-30T01:09:38Z</dcterms:modified>
</cp:coreProperties>
</file>